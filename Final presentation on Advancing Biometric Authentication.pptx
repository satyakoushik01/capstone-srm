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6" r:id="rId5"/>
    <p:sldId id="297" r:id="rId6"/>
    <p:sldId id="286" r:id="rId7"/>
    <p:sldId id="261" r:id="rId8"/>
    <p:sldId id="285" r:id="rId9"/>
    <p:sldId id="263" r:id="rId10"/>
    <p:sldId id="265" r:id="rId11"/>
    <p:sldId id="262" r:id="rId12"/>
    <p:sldId id="278" r:id="rId13"/>
    <p:sldId id="267" r:id="rId14"/>
    <p:sldId id="279" r:id="rId15"/>
    <p:sldId id="280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887" autoAdjust="0"/>
  </p:normalViewPr>
  <p:slideViewPr>
    <p:cSldViewPr snapToGrid="0" showGuides="1">
      <p:cViewPr varScale="1">
        <p:scale>
          <a:sx n="75" d="100"/>
          <a:sy n="75" d="100"/>
        </p:scale>
        <p:origin x="974" y="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5/4/2026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-452120"/>
            <a:ext cx="10954512" cy="3246120"/>
          </a:xfrm>
        </p:spPr>
        <p:txBody>
          <a:bodyPr anchor="b"/>
          <a:lstStyle/>
          <a:p>
            <a:r>
              <a:rPr lang="en-US" sz="4800" dirty="0">
                <a:solidFill>
                  <a:srgbClr val="0D1D51"/>
                </a:solidFill>
                <a:latin typeface="Lato Heavy"/>
                <a:ea typeface="Lato Heavy"/>
                <a:cs typeface="Lato Heavy"/>
                <a:sym typeface="Lato Heavy"/>
              </a:rPr>
              <a:t>Advancing Biometric Authentication: </a:t>
            </a:r>
            <a:br>
              <a:rPr lang="en-US" sz="4800" dirty="0">
                <a:solidFill>
                  <a:srgbClr val="0D1D51"/>
                </a:solidFill>
                <a:latin typeface="Lato Heavy"/>
                <a:ea typeface="Lato Heavy"/>
                <a:cs typeface="Lato Heavy"/>
                <a:sym typeface="Lato Heavy"/>
              </a:rPr>
            </a:br>
            <a:r>
              <a:rPr lang="en-US" sz="4800" dirty="0">
                <a:solidFill>
                  <a:srgbClr val="0D1D51"/>
                </a:solidFill>
                <a:latin typeface="Lato Heavy"/>
                <a:ea typeface="Lato Heavy"/>
                <a:cs typeface="Lato Heavy"/>
                <a:sym typeface="Lato Heavy"/>
              </a:rPr>
              <a:t>A Framework for Template Reconstruction Attack Detection</a:t>
            </a:r>
            <a:endParaRPr lang="en-US" sz="4800" dirty="0">
              <a:solidFill>
                <a:srgbClr val="0D1D5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12826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C567A"/>
                </a:solidFill>
              </a:rPr>
              <a:t>Presented by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K. Babinadh - AP22110010314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Y. Teja - AP22110010409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D. Satya Koushik - AP22110010454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M. Nithin Sai - AP22110010406</a:t>
            </a:r>
          </a:p>
          <a:p>
            <a:pPr>
              <a:lnSpc>
                <a:spcPct val="100000"/>
              </a:lnSpc>
            </a:pPr>
            <a:endParaRPr lang="en-US" sz="1800" dirty="0">
              <a:solidFill>
                <a:srgbClr val="2C567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9D88A-1737-9631-9CF8-8F4672BE00A9}"/>
              </a:ext>
            </a:extLst>
          </p:cNvPr>
          <p:cNvSpPr txBox="1"/>
          <p:nvPr/>
        </p:nvSpPr>
        <p:spPr>
          <a:xfrm>
            <a:off x="3182620" y="4977973"/>
            <a:ext cx="6101080" cy="71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878"/>
              </a:lnSpc>
            </a:pPr>
            <a:r>
              <a:rPr lang="en-US" sz="1800" b="1" u="sng" dirty="0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UNDER SUPERVISION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40BF5-1140-C7B1-DC69-9F2E8FB6121C}"/>
              </a:ext>
            </a:extLst>
          </p:cNvPr>
          <p:cNvSpPr txBox="1"/>
          <p:nvPr/>
        </p:nvSpPr>
        <p:spPr>
          <a:xfrm>
            <a:off x="3253740" y="5580711"/>
            <a:ext cx="6101080" cy="61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sz="1800" b="1" dirty="0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Dr. Dilip Kumar </a:t>
            </a:r>
            <a:r>
              <a:rPr lang="en-US" sz="1800" b="1" dirty="0" err="1">
                <a:solidFill>
                  <a:srgbClr val="2C567A"/>
                </a:solidFill>
                <a:latin typeface="Lato Heavy"/>
                <a:ea typeface="Lato Heavy"/>
                <a:cs typeface="Lato Heavy"/>
                <a:sym typeface="Lato Heavy"/>
              </a:rPr>
              <a:t>Vallabhadas</a:t>
            </a:r>
            <a:endParaRPr lang="en-US" sz="1800" b="1" dirty="0">
              <a:solidFill>
                <a:srgbClr val="2C567A"/>
              </a:solidFill>
              <a:latin typeface="Lato Heavy"/>
              <a:ea typeface="Lato Heavy"/>
              <a:cs typeface="Lato Heavy"/>
              <a:sym typeface="Lato Heavy"/>
            </a:endParaRP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664" y="2250440"/>
            <a:ext cx="4050792" cy="2953512"/>
          </a:xfrm>
          <a:noFill/>
        </p:spPr>
        <p:txBody>
          <a:bodyPr>
            <a:noAutofit/>
          </a:bodyPr>
          <a:lstStyle/>
          <a:p>
            <a:r>
              <a:rPr lang="en-US" dirty="0"/>
              <a:t>01 Introduction</a:t>
            </a:r>
          </a:p>
          <a:p>
            <a:r>
              <a:rPr lang="en-US" dirty="0"/>
              <a:t>02 The problem</a:t>
            </a:r>
          </a:p>
          <a:p>
            <a:r>
              <a:rPr lang="en-US" dirty="0"/>
              <a:t>03 Research objectives</a:t>
            </a:r>
          </a:p>
          <a:p>
            <a:r>
              <a:rPr lang="en-US" dirty="0"/>
              <a:t>04 Methods &amp; Limitations</a:t>
            </a:r>
          </a:p>
          <a:p>
            <a:r>
              <a:rPr lang="en-US" dirty="0"/>
              <a:t>05 Dataset</a:t>
            </a:r>
          </a:p>
          <a:p>
            <a:r>
              <a:rPr lang="en-US" dirty="0"/>
              <a:t>06 System architecture</a:t>
            </a:r>
          </a:p>
          <a:p>
            <a:r>
              <a:rPr lang="en-US" dirty="0"/>
              <a:t>07 Result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67536" y="335280"/>
            <a:ext cx="7727696" cy="1234440"/>
          </a:xfrm>
          <a:noFill/>
        </p:spPr>
        <p:txBody>
          <a:bodyPr>
            <a:no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6C299-E301-ED38-9744-CA3D8E4A69B1}"/>
              </a:ext>
            </a:extLst>
          </p:cNvPr>
          <p:cNvSpPr txBox="1"/>
          <p:nvPr/>
        </p:nvSpPr>
        <p:spPr>
          <a:xfrm>
            <a:off x="1534160" y="2103120"/>
            <a:ext cx="91236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Biometric authentication (especially fingerprints) is widely used for secure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Unlike passwords, biometric data cannot be changed if compromised.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Stolen fingerprint templates can be used to create synthetic identities (reconstruction attacks).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work focuses on detecting such attacks to enhance biometric security.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The Problem: Biometric Templates Are Not Secret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167EF-9814-AB2C-F7BE-E70767857F5E}"/>
              </a:ext>
            </a:extLst>
          </p:cNvPr>
          <p:cNvSpPr txBox="1"/>
          <p:nvPr/>
        </p:nvSpPr>
        <p:spPr>
          <a:xfrm>
            <a:off x="1139190" y="2522197"/>
            <a:ext cx="99136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Is a Biometric Template?</a:t>
            </a:r>
          </a:p>
          <a:p>
            <a:pPr>
              <a:buNone/>
            </a:pPr>
            <a:r>
              <a:rPr lang="en-US" sz="2800" dirty="0"/>
              <a:t>A mathematical representation of a fingerprint stored in a database — the core credential for authentication.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b="1" dirty="0"/>
              <a:t>The Core Threat</a:t>
            </a:r>
          </a:p>
          <a:p>
            <a:pPr>
              <a:buNone/>
            </a:pPr>
            <a:r>
              <a:rPr lang="en-US" sz="2800" dirty="0"/>
              <a:t>If a template is leaked, attackers can </a:t>
            </a:r>
            <a:r>
              <a:rPr lang="en-US" sz="2800" b="1" dirty="0"/>
              <a:t>reconstruct a synthetic fingerprint</a:t>
            </a:r>
            <a:r>
              <a:rPr lang="en-US" sz="2800" dirty="0"/>
              <a:t> that passes verification. Unlike passwords, biometrics </a:t>
            </a:r>
            <a:r>
              <a:rPr lang="en-US" sz="2800" b="1" dirty="0"/>
              <a:t>cannot be reset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58800" y="623824"/>
            <a:ext cx="11231880" cy="1161288"/>
          </a:xfrm>
          <a:noFill/>
        </p:spPr>
        <p:txBody>
          <a:bodyPr>
            <a:noAutofit/>
          </a:bodyPr>
          <a:lstStyle/>
          <a:p>
            <a:r>
              <a:rPr lang="en-US" sz="4800" dirty="0"/>
              <a:t>Why This Problem Is Urgent Now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74C6B-2981-59AB-0E58-AD5E52C351EB}"/>
              </a:ext>
            </a:extLst>
          </p:cNvPr>
          <p:cNvSpPr txBox="1"/>
          <p:nvPr/>
        </p:nvSpPr>
        <p:spPr>
          <a:xfrm>
            <a:off x="1623060" y="1878691"/>
            <a:ext cx="9776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Irrevocable Credentials</a:t>
            </a:r>
          </a:p>
          <a:p>
            <a:pPr>
              <a:buNone/>
            </a:pPr>
            <a:r>
              <a:rPr lang="en-US" sz="2800" dirty="0"/>
              <a:t>Biometrics are permanent — a compromised template is a lifetime vulnerability.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C32A7-8B7C-7EDF-9AF2-0339CEB443EB}"/>
              </a:ext>
            </a:extLst>
          </p:cNvPr>
          <p:cNvSpPr txBox="1"/>
          <p:nvPr/>
        </p:nvSpPr>
        <p:spPr>
          <a:xfrm>
            <a:off x="1623060" y="3357265"/>
            <a:ext cx="98577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AI-Powered Attacks</a:t>
            </a:r>
          </a:p>
          <a:p>
            <a:pPr>
              <a:buNone/>
            </a:pPr>
            <a:r>
              <a:rPr lang="en-US" sz="2800" dirty="0"/>
              <a:t>GANs and diffusion models can synthesize high-fidelity fingerprints from leaked templates.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A8373-CBE3-E8AB-69C6-E60B2FAF3364}"/>
              </a:ext>
            </a:extLst>
          </p:cNvPr>
          <p:cNvSpPr txBox="1"/>
          <p:nvPr/>
        </p:nvSpPr>
        <p:spPr>
          <a:xfrm>
            <a:off x="1623060" y="4742260"/>
            <a:ext cx="9969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Scaling Threat Surface</a:t>
            </a:r>
          </a:p>
          <a:p>
            <a:pPr>
              <a:buNone/>
            </a:pPr>
            <a:r>
              <a:rPr lang="en-US" sz="2800" dirty="0"/>
              <a:t>Mass biometric deployments in banking, mobile, and government multiply attack incentives.</a:t>
            </a:r>
          </a:p>
        </p:txBody>
      </p:sp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-172720"/>
            <a:ext cx="10506456" cy="1655064"/>
          </a:xfrm>
          <a:noFill/>
        </p:spPr>
        <p:txBody>
          <a:bodyPr>
            <a:noAutofit/>
          </a:bodyPr>
          <a:lstStyle/>
          <a:p>
            <a:r>
              <a:rPr lang="en-IN" dirty="0"/>
              <a:t>Research Objectives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298F2-B7F6-B167-2939-782BFA8869E2}"/>
              </a:ext>
            </a:extLst>
          </p:cNvPr>
          <p:cNvSpPr txBox="1"/>
          <p:nvPr/>
        </p:nvSpPr>
        <p:spPr>
          <a:xfrm>
            <a:off x="987552" y="1758295"/>
            <a:ext cx="10506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Detect Reconstruction Attacks</a:t>
            </a:r>
          </a:p>
          <a:p>
            <a:pPr>
              <a:buNone/>
            </a:pPr>
            <a:r>
              <a:rPr lang="en-US" sz="2400" dirty="0"/>
              <a:t>Identify adversarial attempts to reconstruct or exploit stored biometric templates in real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3952F-B7B3-C91A-277C-AD6895763FFD}"/>
              </a:ext>
            </a:extLst>
          </p:cNvPr>
          <p:cNvSpPr txBox="1"/>
          <p:nvPr/>
        </p:nvSpPr>
        <p:spPr>
          <a:xfrm>
            <a:off x="987552" y="2958624"/>
            <a:ext cx="10506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Strengthen Template Security</a:t>
            </a:r>
          </a:p>
          <a:p>
            <a:pPr>
              <a:buNone/>
            </a:pPr>
            <a:r>
              <a:rPr lang="en-US" sz="2400" dirty="0"/>
              <a:t>Apply Dynamic Random Projection to ensure non-invertibility and revocability of stored templates.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8431E-918F-CFFB-3A38-CB899162E49D}"/>
              </a:ext>
            </a:extLst>
          </p:cNvPr>
          <p:cNvSpPr txBox="1"/>
          <p:nvPr/>
        </p:nvSpPr>
        <p:spPr>
          <a:xfrm>
            <a:off x="987552" y="4158953"/>
            <a:ext cx="10676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Preserve Authentication Accuracy</a:t>
            </a:r>
          </a:p>
          <a:p>
            <a:pPr>
              <a:buNone/>
            </a:pPr>
            <a:r>
              <a:rPr lang="en-US" sz="2400" dirty="0"/>
              <a:t>Maintain low EER and high recognition rates while adding active defense layers.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B2CAB-A76F-ECAE-2AAF-EF662D99A0EA}"/>
              </a:ext>
            </a:extLst>
          </p:cNvPr>
          <p:cNvSpPr txBox="1"/>
          <p:nvPr/>
        </p:nvSpPr>
        <p:spPr>
          <a:xfrm>
            <a:off x="987552" y="5107641"/>
            <a:ext cx="10970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Enable Real-World Deployment</a:t>
            </a:r>
          </a:p>
          <a:p>
            <a:pPr>
              <a:buNone/>
            </a:pPr>
            <a:r>
              <a:rPr lang="en-US" sz="2400" dirty="0"/>
              <a:t>Design a lightweight framework compatible with mobile and enterprise authentication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12" y="38608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/>
              <a:t>Existing Methods &amp; Their Limitations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784" y="1838960"/>
            <a:ext cx="10534904" cy="403352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/>
              <a:t>The Critical Gap</a:t>
            </a:r>
          </a:p>
          <a:p>
            <a:endParaRPr lang="en-US" sz="2400" b="1" dirty="0"/>
          </a:p>
          <a:p>
            <a:r>
              <a:rPr lang="en-US" sz="2400" dirty="0"/>
              <a:t>Current approaches are </a:t>
            </a:r>
            <a:r>
              <a:rPr lang="en-US" sz="2400" b="1" dirty="0"/>
              <a:t>passive</a:t>
            </a:r>
            <a:r>
              <a:rPr lang="en-US" sz="2400" dirty="0"/>
              <a:t> — they protect at rest but cannot </a:t>
            </a:r>
            <a:r>
              <a:rPr lang="en-US" sz="2400" b="1" dirty="0"/>
              <a:t>detect active reconstruction attempts</a:t>
            </a:r>
            <a:r>
              <a:rPr lang="en-US" sz="2400" dirty="0"/>
              <a:t> during authentication.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mechanism to flag adversarial template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Cancelable biometrics lack revocation granularity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Spoof detection ignores template-space attacks</a:t>
            </a:r>
          </a:p>
          <a:p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12" y="9245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/>
              <a:t>Proposed Solution: Hybrid Dynamic Projection Framework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392" y="2358136"/>
            <a:ext cx="3602736" cy="357530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A novel </a:t>
            </a:r>
            <a:r>
              <a:rPr lang="en-US" b="1" dirty="0"/>
              <a:t>Hybrid Dynamic Projection-based Detection Framework</a:t>
            </a:r>
            <a:r>
              <a:rPr lang="en-US" dirty="0"/>
              <a:t> that identifies inconsistencies in reconstructed templates during authentication.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126AE-AE4A-97A5-21F5-E5ACF7E060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95024" y="2263312"/>
            <a:ext cx="3602736" cy="357530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framework intercepts each authentication attempt, applies dynamic random projection, and analyzes score distributions to distinguish genuine users from reconstructed adversarial inputs.</a:t>
            </a: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70903-CB75-9CDC-93EC-3DFCA0E59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84679" y="4363375"/>
            <a:ext cx="6622898" cy="249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392" y="4800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/>
              <a:t>System Architecture</a:t>
            </a:r>
            <a:br>
              <a:rPr lang="en-IN" dirty="0"/>
            </a:b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9B6AB-951C-B832-4AD5-831B5C208E8B}"/>
              </a:ext>
            </a:extLst>
          </p:cNvPr>
          <p:cNvSpPr txBox="1"/>
          <p:nvPr/>
        </p:nvSpPr>
        <p:spPr>
          <a:xfrm>
            <a:off x="3789680" y="2741694"/>
            <a:ext cx="8402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 err="1"/>
              <a:t>Enrollment</a:t>
            </a:r>
            <a:r>
              <a:rPr lang="en-IN" sz="2000" b="1" dirty="0"/>
              <a:t> Phase</a:t>
            </a:r>
          </a:p>
          <a:p>
            <a:pPr>
              <a:buNone/>
            </a:pPr>
            <a:r>
              <a:rPr lang="en-IN" sz="2000" dirty="0"/>
              <a:t>Fingerprint → ResNet-50 → 512D embedding → DRP → Secure storage</a:t>
            </a:r>
          </a:p>
          <a:p>
            <a:pPr>
              <a:buNone/>
            </a:pPr>
            <a:r>
              <a:rPr lang="en-IN" sz="2000" b="1" dirty="0"/>
              <a:t>Authentication Phase</a:t>
            </a:r>
          </a:p>
          <a:p>
            <a:pPr>
              <a:buNone/>
            </a:pPr>
            <a:r>
              <a:rPr lang="en-IN" sz="2000" dirty="0"/>
              <a:t>Live scan → Same extraction → Projection consistency check → Correlation analysis → Accept or flag attack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4A5E08-54A0-4C25-B3DF-ADB4BAF73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5921" y="2021496"/>
            <a:ext cx="3393440" cy="33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56" y="869061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/>
              <a:t>Dataset, Feature Extraction &amp; Template Protection</a:t>
            </a:r>
            <a:br>
              <a:rPr lang="en-IN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AF320-61B9-87FA-4DF5-7C3B0DC1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26ECE-C581-C133-96BA-CC7425F85565}"/>
              </a:ext>
            </a:extLst>
          </p:cNvPr>
          <p:cNvSpPr txBox="1"/>
          <p:nvPr/>
        </p:nvSpPr>
        <p:spPr>
          <a:xfrm>
            <a:off x="469656" y="4511040"/>
            <a:ext cx="34825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CASIA Fingerprint Dataset</a:t>
            </a:r>
          </a:p>
          <a:p>
            <a:pPr>
              <a:buNone/>
            </a:pPr>
            <a:r>
              <a:rPr lang="en-US" dirty="0"/>
              <a:t>Augmented with noise, blur, and compression to simulate real-world attack conditions and adversarial reconstruction scenarios.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58FC1C-F973-E35E-CA36-9E5B405A4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77" y="2367280"/>
            <a:ext cx="3783106" cy="2143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CA988E-3665-830B-C28E-F0CEF269652F}"/>
              </a:ext>
            </a:extLst>
          </p:cNvPr>
          <p:cNvSpPr txBox="1"/>
          <p:nvPr/>
        </p:nvSpPr>
        <p:spPr>
          <a:xfrm>
            <a:off x="4118732" y="4511040"/>
            <a:ext cx="3241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ResNet-50 Feature Extraction</a:t>
            </a:r>
          </a:p>
          <a:p>
            <a:pPr>
              <a:buNone/>
            </a:pPr>
            <a:r>
              <a:rPr lang="en-US" dirty="0"/>
              <a:t>Transfer learning produces </a:t>
            </a:r>
            <a:r>
              <a:rPr lang="en-US" b="1" dirty="0"/>
              <a:t>512-dimensional embeddings</a:t>
            </a:r>
            <a:r>
              <a:rPr lang="en-US" dirty="0"/>
              <a:t> capturing fine-grained minutiae patterns robust to variation.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D9427-5384-175A-625C-64D86D47139D}"/>
              </a:ext>
            </a:extLst>
          </p:cNvPr>
          <p:cNvSpPr txBox="1"/>
          <p:nvPr/>
        </p:nvSpPr>
        <p:spPr>
          <a:xfrm>
            <a:off x="7695398" y="4511040"/>
            <a:ext cx="4026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Dynamic Random Projection</a:t>
            </a:r>
          </a:p>
          <a:p>
            <a:pPr>
              <a:buNone/>
            </a:pPr>
            <a:r>
              <a:rPr lang="en-US" dirty="0"/>
              <a:t>Session-specific projection matrices ensure </a:t>
            </a:r>
            <a:r>
              <a:rPr lang="en-US" b="1" dirty="0"/>
              <a:t>non-invertibility</a:t>
            </a:r>
            <a:r>
              <a:rPr lang="en-US" dirty="0"/>
              <a:t>, </a:t>
            </a:r>
            <a:r>
              <a:rPr lang="en-US" b="1" dirty="0"/>
              <a:t>revocability</a:t>
            </a:r>
            <a:r>
              <a:rPr lang="en-US" dirty="0"/>
              <a:t>, and </a:t>
            </a:r>
            <a:r>
              <a:rPr lang="en-US" b="1" dirty="0"/>
              <a:t>diversity</a:t>
            </a:r>
            <a:r>
              <a:rPr lang="en-US" dirty="0"/>
              <a:t> across deployments.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FEFE9D-11E8-C5D1-60E8-FB88E6213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378" y="2253361"/>
            <a:ext cx="4077747" cy="23107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EBD80E-2A8F-27D8-4C9F-F22328579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398" y="2524125"/>
            <a:ext cx="3599928" cy="203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0"/>
            <a:ext cx="9470136" cy="2301240"/>
          </a:xfrm>
          <a:noFill/>
        </p:spPr>
        <p:txBody>
          <a:bodyPr anchor="ctr">
            <a:noAutofit/>
          </a:bodyPr>
          <a:lstStyle/>
          <a:p>
            <a:r>
              <a:rPr lang="en-IN" sz="4800" dirty="0"/>
              <a:t>Attack Detection &amp; Training Strategy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53AA9-E687-B6B3-B240-B6674431C56D}"/>
              </a:ext>
            </a:extLst>
          </p:cNvPr>
          <p:cNvSpPr txBox="1"/>
          <p:nvPr/>
        </p:nvSpPr>
        <p:spPr>
          <a:xfrm>
            <a:off x="1038860" y="165937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Detection Signals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E6AF8-ECBB-46F7-9FF5-75E76E60B1CD}"/>
              </a:ext>
            </a:extLst>
          </p:cNvPr>
          <p:cNvSpPr txBox="1"/>
          <p:nvPr/>
        </p:nvSpPr>
        <p:spPr>
          <a:xfrm>
            <a:off x="1038860" y="2205335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Projection Consistency</a:t>
            </a:r>
          </a:p>
          <a:p>
            <a:pPr>
              <a:buNone/>
            </a:pPr>
            <a:r>
              <a:rPr lang="en-US" dirty="0"/>
              <a:t>Reconstructed templates fail to align under dynamic projection transforms.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66A8F-33A9-324D-5210-33E4DA28CADE}"/>
              </a:ext>
            </a:extLst>
          </p:cNvPr>
          <p:cNvSpPr txBox="1"/>
          <p:nvPr/>
        </p:nvSpPr>
        <p:spPr>
          <a:xfrm>
            <a:off x="1038860" y="3429000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Correlation Differences</a:t>
            </a:r>
          </a:p>
          <a:p>
            <a:pPr>
              <a:buNone/>
            </a:pPr>
            <a:r>
              <a:rPr lang="en-IN" dirty="0"/>
              <a:t>Adversarial inputs exhibit statistically distinct correlation profiles vs. genuine samples.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D6398-EA7E-9FAE-7129-EACD866F7D6E}"/>
              </a:ext>
            </a:extLst>
          </p:cNvPr>
          <p:cNvSpPr txBox="1"/>
          <p:nvPr/>
        </p:nvSpPr>
        <p:spPr>
          <a:xfrm>
            <a:off x="1038860" y="4652665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Score Distribution Analysis</a:t>
            </a:r>
          </a:p>
          <a:p>
            <a:pPr>
              <a:buNone/>
            </a:pPr>
            <a:r>
              <a:rPr lang="en-IN" dirty="0"/>
              <a:t>Anomaly detection on match score distributions flags outliers.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D69FA-BB96-5E7B-D5D9-11D24FBB9ED2}"/>
              </a:ext>
            </a:extLst>
          </p:cNvPr>
          <p:cNvSpPr txBox="1"/>
          <p:nvPr/>
        </p:nvSpPr>
        <p:spPr>
          <a:xfrm>
            <a:off x="7139940" y="2436674"/>
            <a:ext cx="61010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Training Configuration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Loss:</a:t>
            </a:r>
            <a:r>
              <a:rPr lang="en-US" dirty="0"/>
              <a:t> Cross-entropy with class weighting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Optimizer:</a:t>
            </a:r>
            <a:r>
              <a:rPr lang="en-US" dirty="0"/>
              <a:t> Adam with adaptive learning rate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Regularization:</a:t>
            </a:r>
            <a:r>
              <a:rPr lang="en-US" dirty="0"/>
              <a:t> Early stopping + LR scheduling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Validation:</a:t>
            </a:r>
            <a:r>
              <a:rPr lang="en-US" dirty="0"/>
              <a:t> Stratified k-fold cross-validation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E285DF-54FC-F4B1-5F1C-B77C2A57F08C}"/>
              </a:ext>
            </a:extLst>
          </p:cNvPr>
          <p:cNvSpPr txBox="1"/>
          <p:nvPr/>
        </p:nvSpPr>
        <p:spPr>
          <a:xfrm>
            <a:off x="1038860" y="5896035"/>
            <a:ext cx="11305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Training includes both genuine and synthetically reconstructed templates for adversarial robustness.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52" y="-2133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IN" dirty="0"/>
              <a:t>Results &amp; Comparative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2961389"/>
            <a:ext cx="3231896" cy="1459992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Outperforms cancelable biometrics and spoof detection baselines across all metrics, with </a:t>
            </a:r>
            <a:r>
              <a:rPr lang="en-US" b="1" dirty="0"/>
              <a:t>significant EER reduction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BB130-59A9-D5B7-EE8B-1F4B0E9E706C}"/>
              </a:ext>
            </a:extLst>
          </p:cNvPr>
          <p:cNvSpPr txBox="1"/>
          <p:nvPr/>
        </p:nvSpPr>
        <p:spPr>
          <a:xfrm>
            <a:off x="6519672" y="250359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Metrics Achieved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0DEC2D-75A4-9998-D078-33D604EDD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2" y="1622496"/>
            <a:ext cx="5241770" cy="3325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B6B395-6056-112E-8F7F-0D83908E9A2C}"/>
              </a:ext>
            </a:extLst>
          </p:cNvPr>
          <p:cNvSpPr txBox="1"/>
          <p:nvPr/>
        </p:nvSpPr>
        <p:spPr>
          <a:xfrm>
            <a:off x="1069980" y="5483275"/>
            <a:ext cx="3116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~99% Accuracy</a:t>
            </a:r>
          </a:p>
          <a:p>
            <a:pPr>
              <a:buNone/>
            </a:pPr>
            <a:r>
              <a:rPr lang="en-US" dirty="0"/>
              <a:t>Best-in-class detection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35CBCB-09B1-13A4-4B44-A3D62BA0E032}"/>
              </a:ext>
            </a:extLst>
          </p:cNvPr>
          <p:cNvSpPr txBox="1"/>
          <p:nvPr/>
        </p:nvSpPr>
        <p:spPr>
          <a:xfrm>
            <a:off x="4344548" y="5483275"/>
            <a:ext cx="3362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Low EER</a:t>
            </a:r>
          </a:p>
          <a:p>
            <a:pPr>
              <a:buNone/>
            </a:pPr>
            <a:r>
              <a:rPr lang="en-US" dirty="0"/>
              <a:t>Minimal false accepts &amp; rejects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42C700-84DB-950D-2464-ECF956D538D7}"/>
              </a:ext>
            </a:extLst>
          </p:cNvPr>
          <p:cNvSpPr txBox="1"/>
          <p:nvPr/>
        </p:nvSpPr>
        <p:spPr>
          <a:xfrm>
            <a:off x="8135620" y="5370419"/>
            <a:ext cx="6233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High AUC-ROC</a:t>
            </a:r>
          </a:p>
          <a:p>
            <a:pPr>
              <a:buNone/>
            </a:pPr>
            <a:r>
              <a:rPr lang="en-US" dirty="0"/>
              <a:t>Strong discriminative power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3856" y="3159760"/>
            <a:ext cx="5893816" cy="2875280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pPr algn="just"/>
            <a:r>
              <a:rPr lang="en-US" b="1" dirty="0">
                <a:solidFill>
                  <a:srgbClr val="2C567A"/>
                </a:solidFill>
                <a:ea typeface="Lato Heavy"/>
                <a:cs typeface="Lato Heavy"/>
                <a:sym typeface="Lato Heavy"/>
              </a:rPr>
              <a:t>K. Babinadh             - AP22110010314</a:t>
            </a:r>
          </a:p>
          <a:p>
            <a:pPr algn="just"/>
            <a:r>
              <a:rPr lang="en-US" b="1" dirty="0">
                <a:solidFill>
                  <a:srgbClr val="2C567A"/>
                </a:solidFill>
                <a:ea typeface="Lato Heavy"/>
                <a:cs typeface="Lato Heavy"/>
                <a:sym typeface="Lato Heavy"/>
              </a:rPr>
              <a:t>Y. Teja                            - AP22110010409</a:t>
            </a:r>
          </a:p>
          <a:p>
            <a:pPr algn="just"/>
            <a:r>
              <a:rPr lang="en-US" b="1" dirty="0">
                <a:solidFill>
                  <a:srgbClr val="2C567A"/>
                </a:solidFill>
                <a:ea typeface="Lato Heavy"/>
                <a:cs typeface="Lato Heavy"/>
                <a:sym typeface="Lato Heavy"/>
              </a:rPr>
              <a:t>D. Satya Koushik - AP22110010454</a:t>
            </a:r>
          </a:p>
          <a:p>
            <a:pPr algn="just"/>
            <a:r>
              <a:rPr lang="en-US" b="1" dirty="0">
                <a:solidFill>
                  <a:srgbClr val="2C567A"/>
                </a:solidFill>
                <a:ea typeface="Lato Heavy"/>
                <a:cs typeface="Lato Heavy"/>
                <a:sym typeface="Lato Heavy"/>
              </a:rPr>
              <a:t>M. Nithin Sai            - AP22110010406</a:t>
            </a:r>
          </a:p>
          <a:p>
            <a:endParaRPr lang="en-US" noProof="0" dirty="0">
              <a:solidFill>
                <a:srgbClr val="2C56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37</TotalTime>
  <Words>637</Words>
  <Application>Microsoft Office PowerPoint</Application>
  <PresentationFormat>Widescreen</PresentationFormat>
  <Paragraphs>107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Lato Heavy</vt:lpstr>
      <vt:lpstr>Custom</vt:lpstr>
      <vt:lpstr>Advancing Biometric Authentication:  A Framework for Template Reconstruction Attack Detection</vt:lpstr>
      <vt:lpstr>Agenda</vt:lpstr>
      <vt:lpstr>Introduction</vt:lpstr>
      <vt:lpstr>The Problem: Biometric Templates Are Not Secret</vt:lpstr>
      <vt:lpstr>Why This Problem Is Urgent Now</vt:lpstr>
      <vt:lpstr>Research Objectives</vt:lpstr>
      <vt:lpstr>Existing Methods &amp; Their Limitations </vt:lpstr>
      <vt:lpstr>Proposed Solution: Hybrid Dynamic Projection Framework </vt:lpstr>
      <vt:lpstr>System Architecture </vt:lpstr>
      <vt:lpstr>Dataset, Feature Extraction &amp; Template Protection </vt:lpstr>
      <vt:lpstr>Attack Detection &amp; Training Strategy</vt:lpstr>
      <vt:lpstr>Results &amp; Comparative Performance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Koushik Devarabhotla</dc:creator>
  <cp:lastModifiedBy>Satya Koushik Devarabhotla</cp:lastModifiedBy>
  <cp:revision>1</cp:revision>
  <dcterms:created xsi:type="dcterms:W3CDTF">2026-05-04T16:32:24Z</dcterms:created>
  <dcterms:modified xsi:type="dcterms:W3CDTF">2026-05-04T17:09:36Z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